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7" r:id="rId5"/>
    <p:sldMasterId id="2147483678" r:id="rId6"/>
    <p:sldMasterId id="2147483679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</p:sldIdLst>
  <p:sldSz cy="5143500" cx="9144000"/>
  <p:notesSz cx="6858000" cy="9144000"/>
  <p:embeddedFontLst>
    <p:embeddedFont>
      <p:font typeface="Roboto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D46563-6F8C-42C6-BBA4-361D0601C12C}">
  <a:tblStyle styleId="{E8D46563-6F8C-42C6-BBA4-361D0601C12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font" Target="fonts/Roboto-regular.fntdata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font" Target="fonts/Roboto-italic.fntdata"/><Relationship Id="rId21" Type="http://schemas.openxmlformats.org/officeDocument/2006/relationships/slide" Target="slides/slide13.xml"/><Relationship Id="rId43" Type="http://schemas.openxmlformats.org/officeDocument/2006/relationships/font" Target="fonts/Roboto-bold.fntdata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45" Type="http://schemas.openxmlformats.org/officeDocument/2006/relationships/font" Target="fonts/Roboto-boldItalic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3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baaba680d4_2_10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baaba680d4_2_1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baaba680d4_4_1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g3baaba680d4_4_10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Attention是找target and source之間的關聯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self-attention就是自己跟自己的關聯：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比方說同一句話，叫模型去找出這個it代表什麼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左邊是animal (因為tired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右邊是road (因為wide</a:t>
            </a:r>
            <a:endParaRPr/>
          </a:p>
        </p:txBody>
      </p:sp>
      <p:sp>
        <p:nvSpPr>
          <p:cNvPr id="269" name="Google Shape;269;g3baaba680d4_4_10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baaba680d4_0_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" name="Google Shape;275;g3baaba680d4_0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Attention是找target and source之間的關聯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self-attention就是自己跟自己的關聯：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比方說同一句話，叫模型去找出這個it代表什麼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左邊是animal (因為tired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右邊是road (因為wide</a:t>
            </a:r>
            <a:endParaRPr/>
          </a:p>
        </p:txBody>
      </p:sp>
      <p:sp>
        <p:nvSpPr>
          <p:cNvPr id="276" name="Google Shape;276;g3baaba680d4_0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baaba680d4_0_4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3baaba680d4_0_4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Attention是找target and source之間的關聯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self-attention就是自己跟自己的關聯：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比方說同一句話，叫模型去找出這個it代表什麼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左邊是animal (因為tired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右邊是road (因為wide</a:t>
            </a:r>
            <a:endParaRPr/>
          </a:p>
        </p:txBody>
      </p:sp>
      <p:sp>
        <p:nvSpPr>
          <p:cNvPr id="283" name="Google Shape;283;g3baaba680d4_0_4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baaba680d4_0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g3baaba680d4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baaba680d4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baaba680d4_0_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g3baaba680d4_0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g3baaba680d4_0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baaba680d4_0_5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g3baaba680d4_0_5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Attention是找target and source之間的關聯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self-attention就是自己跟自己的關聯：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比方說同一句話，叫模型去找出這個it代表什麼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左邊是animal (因為tired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右邊是road (因為wide</a:t>
            </a:r>
            <a:endParaRPr/>
          </a:p>
        </p:txBody>
      </p:sp>
      <p:sp>
        <p:nvSpPr>
          <p:cNvPr id="305" name="Google Shape;305;g3baaba680d4_0_5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baaba680d4_0_6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2" name="Google Shape;312;g3baaba680d4_0_6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baaba680d4_0_6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baaba680d4_0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0" name="Google Shape;320;g3baaba680d4_0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g3baaba680d4_0_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baaba680d4_0_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7" name="Google Shape;327;g3baaba680d4_0_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g3baaba680d4_0_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baaba680d4_0_9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g3baaba680d4_0_9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g3baaba680d4_0_9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baaba680d4_0_9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g3baaba680d4_0_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g3baaba680d4_0_9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baaba680d4_0_10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g3baaba680d4_0_10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baaba680d4_0_10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baaba680d4_0_1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5" name="Google Shape;355;g3baaba680d4_0_1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g3baaba680d4_0_1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baaba680d4_0_1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2" name="Google Shape;362;g3baaba680d4_0_1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baaba680d4_0_1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baaba680d4_0_1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9" name="Google Shape;369;g3baaba680d4_0_1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g3baaba680d4_0_12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baaba680d4_0_1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6" name="Google Shape;376;g3baaba680d4_0_1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7" name="Google Shape;377;g3baaba680d4_0_1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baaba680d4_0_1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3" name="Google Shape;383;g3baaba680d4_0_1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g3baaba680d4_0_13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baaba680d4_0_1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0" name="Google Shape;390;g3baaba680d4_0_1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g3baaba680d4_0_18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baaba680d4_0_1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" name="Google Shape;397;g3baaba680d4_0_14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g3baaba680d4_0_14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3baaba680d4_0_15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g3baaba680d4_0_15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5" name="Google Shape;405;g3baaba680d4_0_15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baaba680d4_0_16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3" name="Google Shape;413;g3baaba680d4_0_16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baaba680d4_0_16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baaba680d4_0_1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0" name="Google Shape;420;g3baaba680d4_0_1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g3baaba680d4_0_1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baaba680d4_0_17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7" name="Google Shape;427;g3baaba680d4_0_17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g3baaba680d4_0_17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baaba680d4_0_19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4" name="Google Shape;434;g3baaba680d4_0_19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g3baaba680d4_0_19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baaba680d4_0_19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1" name="Google Shape;441;g3baaba680d4_0_1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g3baaba680d4_0_19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baaba680d4_0_20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8" name="Google Shape;448;g3baaba680d4_0_20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g3baaba680d4_0_20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baaba680d4_0_2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5" name="Google Shape;455;g3baaba680d4_0_2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g3baaba680d4_0_2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baaba680d4_0_2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2" name="Google Shape;462;g3baaba680d4_0_2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g3baaba680d4_0_2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baaba680d4_0_2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9" name="Google Shape;469;g3baaba680d4_0_22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g3baaba680d4_0_22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5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3baaba680d4_0_2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7" name="Google Shape;477;g3baaba680d4_0_2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g3baaba680d4_0_2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baaba680d4_0_26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4" name="Google Shape;484;g3baaba680d4_0_26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g3baaba680d4_0_26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baaba680d4_0_2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3baaba680d4_0_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1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5" Type="http://schemas.openxmlformats.org/officeDocument/2006/relationships/image" Target="../media/image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9.png"/><Relationship Id="rId6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1.png"/><Relationship Id="rId4" Type="http://schemas.openxmlformats.org/officeDocument/2006/relationships/image" Target="../media/image1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0.png"/><Relationship Id="rId4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19.png"/><Relationship Id="rId5" Type="http://schemas.openxmlformats.org/officeDocument/2006/relationships/image" Target="../media/image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1">
  <p:cSld name="Title Slide 01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logo&#10;&#10;Description automatically generated" id="57" name="Google Shape;5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77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 txBox="1"/>
          <p:nvPr>
            <p:ph type="ctrTitle"/>
          </p:nvPr>
        </p:nvSpPr>
        <p:spPr>
          <a:xfrm>
            <a:off x="407710" y="2516957"/>
            <a:ext cx="4442381" cy="10746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300"/>
              <a:buFont typeface="Verdana"/>
              <a:buNone/>
              <a:defRPr b="1" sz="33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subTitle"/>
          </p:nvPr>
        </p:nvSpPr>
        <p:spPr>
          <a:xfrm>
            <a:off x="407710" y="2183466"/>
            <a:ext cx="3996964" cy="325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 b="1" sz="1800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60" name="Google Shape;6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927" y="452098"/>
            <a:ext cx="1332401" cy="262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>
            <p:ph idx="2" type="body"/>
          </p:nvPr>
        </p:nvSpPr>
        <p:spPr>
          <a:xfrm>
            <a:off x="407710" y="3599525"/>
            <a:ext cx="4442381" cy="37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100"/>
              <a:buNone/>
              <a:defRPr b="0" sz="1100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63" name="Google Shape;63;p14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 u="none" cap="none" strike="noStrik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64" name="Google Shape;64;p14"/>
          <p:cNvSpPr txBox="1"/>
          <p:nvPr>
            <p:ph idx="3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927" y="452098"/>
            <a:ext cx="1332401" cy="262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4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03">
  <p:cSld name="Table 03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shape&#10;&#10;Description automatically generated" id="69" name="Google Shape;69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shape&#10;&#10;Description automatically generated" id="70" name="Google Shape;7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71" name="Google Shape;71;p15"/>
          <p:cNvPicPr preferRelativeResize="0"/>
          <p:nvPr/>
        </p:nvPicPr>
        <p:blipFill rotWithShape="1">
          <a:blip r:embed="rId4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/>
          <p:nvPr>
            <p:ph type="title"/>
          </p:nvPr>
        </p:nvSpPr>
        <p:spPr>
          <a:xfrm>
            <a:off x="401267" y="273845"/>
            <a:ext cx="8114084" cy="49950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Verdana"/>
              <a:buNone/>
              <a:defRPr b="1"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73" name="Google Shape;73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5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pic>
        <p:nvPicPr>
          <p:cNvPr id="76" name="Google Shape;7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5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pic>
        <p:nvPicPr>
          <p:cNvPr id="78" name="Google Shape;78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3934" y="817584"/>
            <a:ext cx="901535" cy="63266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2" type="sldNum"/>
          </p:nvPr>
        </p:nvSpPr>
        <p:spPr>
          <a:xfrm>
            <a:off x="6240722" y="4838060"/>
            <a:ext cx="5560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01">
  <p:cSld name="Table 01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logo&#10;&#10;Description automatically generated" id="83" name="Google Shape;83;p16"/>
          <p:cNvPicPr preferRelativeResize="0"/>
          <p:nvPr/>
        </p:nvPicPr>
        <p:blipFill rotWithShape="1">
          <a:blip r:embed="rId2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screenshot of a computer&#10;&#10;Description automatically generated with medium confidence" id="84" name="Google Shape;84;p16"/>
          <p:cNvPicPr preferRelativeResize="0"/>
          <p:nvPr/>
        </p:nvPicPr>
        <p:blipFill rotWithShape="1">
          <a:blip r:embed="rId3">
            <a:alphaModFix/>
          </a:blip>
          <a:srcRect b="75144" l="0" r="0" t="0"/>
          <a:stretch/>
        </p:blipFill>
        <p:spPr>
          <a:xfrm>
            <a:off x="888" y="0"/>
            <a:ext cx="9142223" cy="1278467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6"/>
          <p:cNvSpPr txBox="1"/>
          <p:nvPr>
            <p:ph type="title"/>
          </p:nvPr>
        </p:nvSpPr>
        <p:spPr>
          <a:xfrm>
            <a:off x="401267" y="273844"/>
            <a:ext cx="8204852" cy="6016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Verdana"/>
              <a:buNone/>
              <a:defRPr b="1" sz="18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6" name="Google Shape;86;p16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87" name="Google Shape;87;p16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6"/>
          <p:cNvSpPr/>
          <p:nvPr/>
        </p:nvSpPr>
        <p:spPr>
          <a:xfrm>
            <a:off x="7397317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89" name="Google Shape;89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91" name="Google Shape;91;p16"/>
          <p:cNvSpPr/>
          <p:nvPr/>
        </p:nvSpPr>
        <p:spPr>
          <a:xfrm>
            <a:off x="7397317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92" name="Google Shape;9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5" name="Google Shape;95;p16"/>
          <p:cNvSpPr txBox="1"/>
          <p:nvPr>
            <p:ph idx="12" type="sldNum"/>
          </p:nvPr>
        </p:nvSpPr>
        <p:spPr>
          <a:xfrm>
            <a:off x="6240722" y="4838060"/>
            <a:ext cx="5560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7"/>
          <p:cNvSpPr txBox="1"/>
          <p:nvPr>
            <p:ph type="title"/>
          </p:nvPr>
        </p:nvSpPr>
        <p:spPr>
          <a:xfrm>
            <a:off x="1944694" y="468083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Verdana"/>
              <a:buNone/>
              <a:defRPr sz="2900"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17"/>
          <p:cNvSpPr txBox="1"/>
          <p:nvPr>
            <p:ph idx="1" type="body"/>
          </p:nvPr>
        </p:nvSpPr>
        <p:spPr>
          <a:xfrm>
            <a:off x="1941909" y="1600200"/>
            <a:ext cx="6686550" cy="28332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3238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3048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3048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9" name="Google Shape;99;p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0" name="Google Shape;100;p1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17"/>
          <p:cNvSpPr/>
          <p:nvPr/>
        </p:nvSpPr>
        <p:spPr>
          <a:xfrm flipH="1" rot="10800000">
            <a:off x="-3142" y="535781"/>
            <a:ext cx="1191395" cy="380473"/>
          </a:xfrm>
          <a:custGeom>
            <a:rect b="b" l="l" r="r" t="t"/>
            <a:pathLst>
              <a:path extrusionOk="0" h="10000" w="9248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6" name="Google Shape;106;p18"/>
          <p:cNvSpPr/>
          <p:nvPr/>
        </p:nvSpPr>
        <p:spPr>
          <a:xfrm flipH="1" rot="10800000">
            <a:off x="-3142" y="535781"/>
            <a:ext cx="1191395" cy="380473"/>
          </a:xfrm>
          <a:custGeom>
            <a:rect b="b" l="l" r="r" t="t"/>
            <a:pathLst>
              <a:path extrusionOk="0" h="10000" w="9248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07">
  <p:cSld name="Content 07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logo&#10;&#10;Description automatically generated" id="109" name="Google Shape;109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9" y="4787284"/>
            <a:ext cx="9142223" cy="35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screenshot of a computer&#10;&#10;Description automatically generated with medium confidence" id="110" name="Google Shape;11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9" y="0"/>
            <a:ext cx="9142223" cy="1278467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9"/>
          <p:cNvSpPr txBox="1"/>
          <p:nvPr>
            <p:ph type="title"/>
          </p:nvPr>
        </p:nvSpPr>
        <p:spPr>
          <a:xfrm>
            <a:off x="401267" y="273844"/>
            <a:ext cx="8114084" cy="6016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Verdana"/>
              <a:buNone/>
              <a:defRPr b="1" sz="18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19"/>
          <p:cNvSpPr txBox="1"/>
          <p:nvPr/>
        </p:nvSpPr>
        <p:spPr>
          <a:xfrm>
            <a:off x="56561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13" name="Google Shape;113;p19"/>
          <p:cNvSpPr txBox="1"/>
          <p:nvPr>
            <p:ph idx="1" type="body"/>
          </p:nvPr>
        </p:nvSpPr>
        <p:spPr>
          <a:xfrm>
            <a:off x="2363339" y="4856537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14" name="Google Shape;114;p19"/>
          <p:cNvSpPr/>
          <p:nvPr/>
        </p:nvSpPr>
        <p:spPr>
          <a:xfrm>
            <a:off x="7397318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15" name="Google Shape;1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30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9"/>
          <p:cNvSpPr txBox="1"/>
          <p:nvPr/>
        </p:nvSpPr>
        <p:spPr>
          <a:xfrm>
            <a:off x="56561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17" name="Google Shape;117;p19"/>
          <p:cNvSpPr/>
          <p:nvPr/>
        </p:nvSpPr>
        <p:spPr>
          <a:xfrm>
            <a:off x="7397318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18" name="Google Shape;118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30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Agenda 01">
  <p:cSld name="1_Agenda 01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20" name="Google Shape;120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121" name="Google Shape;121;p20"/>
          <p:cNvPicPr preferRelativeResize="0"/>
          <p:nvPr/>
        </p:nvPicPr>
        <p:blipFill rotWithShape="1">
          <a:blip r:embed="rId3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0"/>
          <p:cNvSpPr txBox="1"/>
          <p:nvPr>
            <p:ph type="title"/>
          </p:nvPr>
        </p:nvSpPr>
        <p:spPr>
          <a:xfrm>
            <a:off x="4967056" y="774895"/>
            <a:ext cx="3013969" cy="61049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Verdana"/>
              <a:buNone/>
              <a:defRPr b="1" sz="2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0"/>
          <p:cNvSpPr txBox="1"/>
          <p:nvPr>
            <p:ph idx="1" type="body"/>
          </p:nvPr>
        </p:nvSpPr>
        <p:spPr>
          <a:xfrm>
            <a:off x="4988518" y="1680553"/>
            <a:ext cx="2992507" cy="23001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  <a:defRPr>
                <a:solidFill>
                  <a:srgbClr val="3F3F3F"/>
                </a:solidFill>
              </a:defRPr>
            </a:lvl1pPr>
            <a:lvl2pPr indent="-342900" lvl="1" marL="9144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F6921E"/>
              </a:buClr>
              <a:buSzPts val="1800"/>
              <a:buFont typeface="Verdana"/>
              <a:buChar char="–"/>
              <a:defRPr>
                <a:solidFill>
                  <a:srgbClr val="3F3F3F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124" name="Google Shape;12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0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26" name="Google Shape;126;p20"/>
          <p:cNvSpPr txBox="1"/>
          <p:nvPr>
            <p:ph idx="2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pic>
        <p:nvPicPr>
          <p:cNvPr id="127" name="Google Shape;127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77337" y="1455815"/>
            <a:ext cx="3032808" cy="155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0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30" name="Google Shape;130;p20"/>
          <p:cNvSpPr/>
          <p:nvPr/>
        </p:nvSpPr>
        <p:spPr>
          <a:xfrm>
            <a:off x="4977337" y="1507544"/>
            <a:ext cx="2284696" cy="103459"/>
          </a:xfrm>
          <a:custGeom>
            <a:rect b="b" l="l" r="r" t="t"/>
            <a:pathLst>
              <a:path extrusionOk="0" h="137945" w="3046262">
                <a:moveTo>
                  <a:pt x="137946" y="137945"/>
                </a:moveTo>
                <a:lnTo>
                  <a:pt x="2908317" y="137945"/>
                </a:lnTo>
                <a:lnTo>
                  <a:pt x="304626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31" name="Google Shape;131;p20"/>
          <p:cNvSpPr/>
          <p:nvPr/>
        </p:nvSpPr>
        <p:spPr>
          <a:xfrm>
            <a:off x="5921444" y="1455815"/>
            <a:ext cx="2088811" cy="5822"/>
          </a:xfrm>
          <a:custGeom>
            <a:rect b="b" l="l" r="r" t="t"/>
            <a:pathLst>
              <a:path extrusionOk="0" h="7762" w="2785082">
                <a:moveTo>
                  <a:pt x="0" y="0"/>
                </a:moveTo>
                <a:lnTo>
                  <a:pt x="2785083" y="0"/>
                </a:lnTo>
                <a:lnTo>
                  <a:pt x="2785083" y="7762"/>
                </a:lnTo>
                <a:lnTo>
                  <a:pt x="0" y="7762"/>
                </a:lnTo>
                <a:close/>
              </a:path>
            </a:pathLst>
          </a:custGeom>
          <a:solidFill>
            <a:srgbClr val="0A0B1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01">
  <p:cSld name="Section Header 0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text, electronics, circuit&#10;&#10;Description automatically generated" id="133" name="Google Shape;133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134" name="Google Shape;134;p21"/>
          <p:cNvPicPr preferRelativeResize="0"/>
          <p:nvPr/>
        </p:nvPicPr>
        <p:blipFill rotWithShape="1">
          <a:blip r:embed="rId3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1"/>
          <p:cNvSpPr txBox="1"/>
          <p:nvPr>
            <p:ph type="title"/>
          </p:nvPr>
        </p:nvSpPr>
        <p:spPr>
          <a:xfrm>
            <a:off x="416722" y="2495588"/>
            <a:ext cx="5124107" cy="900753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300"/>
              <a:buFont typeface="Verdana"/>
              <a:buNone/>
              <a:defRPr b="1" sz="33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136" name="Google Shape;13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1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38" name="Google Shape;138;p21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39" name="Google Shape;139;p21"/>
          <p:cNvSpPr txBox="1"/>
          <p:nvPr>
            <p:ph idx="2" type="subTitle"/>
          </p:nvPr>
        </p:nvSpPr>
        <p:spPr>
          <a:xfrm>
            <a:off x="416723" y="3402668"/>
            <a:ext cx="3996965" cy="325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b="0" sz="1400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40" name="Google Shape;14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1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2">
  <p:cSld name="THANK YOU 02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phical user interface, logo&#10;&#10;Description automatically generated" id="143" name="Google Shape;143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144" name="Google Shape;144;p22"/>
          <p:cNvPicPr preferRelativeResize="0"/>
          <p:nvPr/>
        </p:nvPicPr>
        <p:blipFill rotWithShape="1">
          <a:blip r:embed="rId3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2"/>
          <p:cNvSpPr txBox="1"/>
          <p:nvPr>
            <p:ph type="title"/>
          </p:nvPr>
        </p:nvSpPr>
        <p:spPr>
          <a:xfrm>
            <a:off x="4875872" y="2258122"/>
            <a:ext cx="3872261" cy="5854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2149"/>
              </a:buClr>
              <a:buSzPts val="3000"/>
              <a:buFont typeface="Verdana"/>
              <a:buNone/>
              <a:defRPr b="1" sz="3000">
                <a:solidFill>
                  <a:srgbClr val="0D214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146" name="Google Shape;14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48" name="Google Shape;148;p22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49" name="Google Shape;149;p22"/>
          <p:cNvSpPr txBox="1"/>
          <p:nvPr>
            <p:ph idx="2" type="subTitle"/>
          </p:nvPr>
        </p:nvSpPr>
        <p:spPr>
          <a:xfrm>
            <a:off x="4884235" y="3111189"/>
            <a:ext cx="3880625" cy="10872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0" sz="1200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50" name="Google Shape;15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15732" y="493915"/>
            <a:ext cx="1332401" cy="262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2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pic>
        <p:nvPicPr>
          <p:cNvPr id="153" name="Google Shape;15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15732" y="493915"/>
            <a:ext cx="1332401" cy="2625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01">
  <p:cSld name="Title Slide 01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logo&#10;&#10;Description automatically generated"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77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4"/>
          <p:cNvSpPr txBox="1"/>
          <p:nvPr>
            <p:ph type="ctrTitle"/>
          </p:nvPr>
        </p:nvSpPr>
        <p:spPr>
          <a:xfrm>
            <a:off x="407710" y="2516957"/>
            <a:ext cx="4442381" cy="10746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300"/>
              <a:buFont typeface="Verdana"/>
              <a:buNone/>
              <a:defRPr b="1" sz="33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3" name="Google Shape;163;p24"/>
          <p:cNvSpPr txBox="1"/>
          <p:nvPr>
            <p:ph idx="1" type="subTitle"/>
          </p:nvPr>
        </p:nvSpPr>
        <p:spPr>
          <a:xfrm>
            <a:off x="407710" y="2183466"/>
            <a:ext cx="3996964" cy="325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  <a:defRPr b="1" sz="1800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164" name="Google Shape;16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927" y="452098"/>
            <a:ext cx="1332401" cy="262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4"/>
          <p:cNvSpPr txBox="1"/>
          <p:nvPr>
            <p:ph idx="2" type="body"/>
          </p:nvPr>
        </p:nvSpPr>
        <p:spPr>
          <a:xfrm>
            <a:off x="407710" y="3599525"/>
            <a:ext cx="4442381" cy="37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100"/>
              <a:buNone/>
              <a:defRPr b="0" sz="1100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67" name="Google Shape;167;p24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900" u="none" cap="none" strike="noStrik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68" name="Google Shape;168;p24"/>
          <p:cNvSpPr txBox="1"/>
          <p:nvPr>
            <p:ph idx="3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pic>
        <p:nvPicPr>
          <p:cNvPr id="169" name="Google Shape;16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927" y="452098"/>
            <a:ext cx="1332401" cy="262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4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03">
  <p:cSld name="Table 03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shape&#10;&#10;Description automatically generated" id="173" name="Google Shape;17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shape&#10;&#10;Description automatically generated" id="174" name="Google Shape;174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175" name="Google Shape;175;p25"/>
          <p:cNvPicPr preferRelativeResize="0"/>
          <p:nvPr/>
        </p:nvPicPr>
        <p:blipFill rotWithShape="1">
          <a:blip r:embed="rId4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5"/>
          <p:cNvSpPr txBox="1"/>
          <p:nvPr>
            <p:ph type="title"/>
          </p:nvPr>
        </p:nvSpPr>
        <p:spPr>
          <a:xfrm>
            <a:off x="401267" y="273845"/>
            <a:ext cx="8114084" cy="49950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Verdana"/>
              <a:buNone/>
              <a:defRPr b="1" sz="1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177" name="Google Shape;177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5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79" name="Google Shape;179;p25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pic>
        <p:nvPicPr>
          <p:cNvPr id="180" name="Google Shape;180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5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pic>
        <p:nvPicPr>
          <p:cNvPr id="182" name="Google Shape;182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83934" y="817584"/>
            <a:ext cx="901535" cy="6326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5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4" name="Google Shape;184;p25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5" name="Google Shape;185;p25"/>
          <p:cNvSpPr txBox="1"/>
          <p:nvPr>
            <p:ph idx="12" type="sldNum"/>
          </p:nvPr>
        </p:nvSpPr>
        <p:spPr>
          <a:xfrm>
            <a:off x="6240722" y="4838060"/>
            <a:ext cx="5560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01">
  <p:cSld name="Table 01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logo&#10;&#10;Description automatically generated" id="187" name="Google Shape;187;p26"/>
          <p:cNvPicPr preferRelativeResize="0"/>
          <p:nvPr/>
        </p:nvPicPr>
        <p:blipFill rotWithShape="1">
          <a:blip r:embed="rId2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screenshot of a computer&#10;&#10;Description automatically generated with medium confidence" id="188" name="Google Shape;188;p26"/>
          <p:cNvPicPr preferRelativeResize="0"/>
          <p:nvPr/>
        </p:nvPicPr>
        <p:blipFill rotWithShape="1">
          <a:blip r:embed="rId3">
            <a:alphaModFix/>
          </a:blip>
          <a:srcRect b="75144" l="0" r="0" t="0"/>
          <a:stretch/>
        </p:blipFill>
        <p:spPr>
          <a:xfrm>
            <a:off x="888" y="0"/>
            <a:ext cx="9142223" cy="1278467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6"/>
          <p:cNvSpPr txBox="1"/>
          <p:nvPr>
            <p:ph type="title"/>
          </p:nvPr>
        </p:nvSpPr>
        <p:spPr>
          <a:xfrm>
            <a:off x="401267" y="273844"/>
            <a:ext cx="8204852" cy="6016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Verdana"/>
              <a:buNone/>
              <a:defRPr b="1" sz="18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0" name="Google Shape;190;p26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91" name="Google Shape;191;p26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192" name="Google Shape;192;p26"/>
          <p:cNvSpPr/>
          <p:nvPr/>
        </p:nvSpPr>
        <p:spPr>
          <a:xfrm>
            <a:off x="7397317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6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195" name="Google Shape;195;p26"/>
          <p:cNvSpPr/>
          <p:nvPr/>
        </p:nvSpPr>
        <p:spPr>
          <a:xfrm>
            <a:off x="7397317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196" name="Google Shape;19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12" type="sldNum"/>
          </p:nvPr>
        </p:nvSpPr>
        <p:spPr>
          <a:xfrm>
            <a:off x="6240722" y="4838060"/>
            <a:ext cx="556054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ctr">
              <a:lnSpc>
                <a:spcPct val="90000"/>
              </a:lnSpc>
              <a:spcBef>
                <a:spcPts val="0"/>
              </a:spcBef>
              <a:buClr>
                <a:schemeClr val="lt1"/>
              </a:buClr>
              <a:buSzPts val="900"/>
              <a:buFont typeface="Arial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7"/>
          <p:cNvSpPr txBox="1"/>
          <p:nvPr>
            <p:ph type="title"/>
          </p:nvPr>
        </p:nvSpPr>
        <p:spPr>
          <a:xfrm>
            <a:off x="1944694" y="468083"/>
            <a:ext cx="6683765" cy="960668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Verdana"/>
              <a:buNone/>
              <a:defRPr sz="2900"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2" name="Google Shape;202;p27"/>
          <p:cNvSpPr txBox="1"/>
          <p:nvPr>
            <p:ph idx="1" type="body"/>
          </p:nvPr>
        </p:nvSpPr>
        <p:spPr>
          <a:xfrm>
            <a:off x="1941909" y="1600200"/>
            <a:ext cx="6686550" cy="283321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3238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3048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3048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3" name="Google Shape;203;p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5" name="Google Shape;205;p27"/>
          <p:cNvSpPr/>
          <p:nvPr/>
        </p:nvSpPr>
        <p:spPr>
          <a:xfrm flipH="1" rot="10800000">
            <a:off x="-3142" y="535781"/>
            <a:ext cx="1191395" cy="380473"/>
          </a:xfrm>
          <a:custGeom>
            <a:rect b="b" l="l" r="r" t="t"/>
            <a:pathLst>
              <a:path extrusionOk="0" h="10000" w="9248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27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9" name="Google Shape;209;p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0" name="Google Shape;210;p28"/>
          <p:cNvSpPr/>
          <p:nvPr/>
        </p:nvSpPr>
        <p:spPr>
          <a:xfrm flipH="1" rot="10800000">
            <a:off x="-3142" y="535781"/>
            <a:ext cx="1191395" cy="380473"/>
          </a:xfrm>
          <a:custGeom>
            <a:rect b="b" l="l" r="r" t="t"/>
            <a:pathLst>
              <a:path extrusionOk="0" h="10000" w="9248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2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07">
  <p:cSld name="Content 07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logo&#10;&#10;Description automatically generated" id="213" name="Google Shape;213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9" y="4787284"/>
            <a:ext cx="9142223" cy="35621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screenshot of a computer&#10;&#10;Description automatically generated with medium confidence" id="214" name="Google Shape;21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9" y="0"/>
            <a:ext cx="9142223" cy="1278467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9"/>
          <p:cNvSpPr txBox="1"/>
          <p:nvPr>
            <p:ph type="title"/>
          </p:nvPr>
        </p:nvSpPr>
        <p:spPr>
          <a:xfrm>
            <a:off x="401267" y="273844"/>
            <a:ext cx="8114084" cy="60164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Font typeface="Verdana"/>
              <a:buNone/>
              <a:defRPr b="1" sz="18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6" name="Google Shape;216;p29"/>
          <p:cNvSpPr txBox="1"/>
          <p:nvPr/>
        </p:nvSpPr>
        <p:spPr>
          <a:xfrm>
            <a:off x="56561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217" name="Google Shape;217;p29"/>
          <p:cNvSpPr txBox="1"/>
          <p:nvPr>
            <p:ph idx="1" type="body"/>
          </p:nvPr>
        </p:nvSpPr>
        <p:spPr>
          <a:xfrm>
            <a:off x="2363339" y="4856537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18" name="Google Shape;218;p29"/>
          <p:cNvSpPr/>
          <p:nvPr/>
        </p:nvSpPr>
        <p:spPr>
          <a:xfrm>
            <a:off x="7397318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219" name="Google Shape;21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30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9"/>
          <p:cNvSpPr txBox="1"/>
          <p:nvPr/>
        </p:nvSpPr>
        <p:spPr>
          <a:xfrm>
            <a:off x="56561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221" name="Google Shape;221;p29"/>
          <p:cNvSpPr/>
          <p:nvPr/>
        </p:nvSpPr>
        <p:spPr>
          <a:xfrm>
            <a:off x="7397318" y="4833891"/>
            <a:ext cx="1185170" cy="309609"/>
          </a:xfrm>
          <a:prstGeom prst="parallelogram">
            <a:avLst>
              <a:gd fmla="val 25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222" name="Google Shape;222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30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Agenda 01">
  <p:cSld name="1_Agenda 01"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224" name="Google Shape;224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30"/>
          <p:cNvSpPr txBox="1"/>
          <p:nvPr>
            <p:ph type="title"/>
          </p:nvPr>
        </p:nvSpPr>
        <p:spPr>
          <a:xfrm>
            <a:off x="4967056" y="774895"/>
            <a:ext cx="3013969" cy="610496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Verdana"/>
              <a:buNone/>
              <a:defRPr b="1" sz="2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7" name="Google Shape;227;p30"/>
          <p:cNvSpPr txBox="1"/>
          <p:nvPr>
            <p:ph idx="1" type="body"/>
          </p:nvPr>
        </p:nvSpPr>
        <p:spPr>
          <a:xfrm>
            <a:off x="4988518" y="1680553"/>
            <a:ext cx="2992507" cy="230016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  <a:defRPr>
                <a:solidFill>
                  <a:srgbClr val="3F3F3F"/>
                </a:solidFill>
              </a:defRPr>
            </a:lvl1pPr>
            <a:lvl2pPr indent="-342900" lvl="1" marL="91440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F6921E"/>
              </a:buClr>
              <a:buSzPts val="1800"/>
              <a:buFont typeface="Verdana"/>
              <a:buChar char="–"/>
              <a:defRPr>
                <a:solidFill>
                  <a:srgbClr val="3F3F3F"/>
                </a:solidFill>
              </a:defRPr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pic>
        <p:nvPicPr>
          <p:cNvPr id="228" name="Google Shape;228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0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230" name="Google Shape;230;p30"/>
          <p:cNvSpPr txBox="1"/>
          <p:nvPr>
            <p:ph idx="2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pic>
        <p:nvPicPr>
          <p:cNvPr id="231" name="Google Shape;231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977337" y="1455815"/>
            <a:ext cx="3032808" cy="155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2" name="Google Shape;232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30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234" name="Google Shape;234;p30"/>
          <p:cNvSpPr/>
          <p:nvPr/>
        </p:nvSpPr>
        <p:spPr>
          <a:xfrm>
            <a:off x="4977337" y="1507544"/>
            <a:ext cx="2284696" cy="103459"/>
          </a:xfrm>
          <a:custGeom>
            <a:rect b="b" l="l" r="r" t="t"/>
            <a:pathLst>
              <a:path extrusionOk="0" h="137945" w="3046262">
                <a:moveTo>
                  <a:pt x="137946" y="137945"/>
                </a:moveTo>
                <a:lnTo>
                  <a:pt x="2908317" y="137945"/>
                </a:lnTo>
                <a:lnTo>
                  <a:pt x="3046263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35" name="Google Shape;235;p30"/>
          <p:cNvSpPr/>
          <p:nvPr/>
        </p:nvSpPr>
        <p:spPr>
          <a:xfrm>
            <a:off x="5921444" y="1455815"/>
            <a:ext cx="2088811" cy="5822"/>
          </a:xfrm>
          <a:custGeom>
            <a:rect b="b" l="l" r="r" t="t"/>
            <a:pathLst>
              <a:path extrusionOk="0" h="7762" w="2785082">
                <a:moveTo>
                  <a:pt x="0" y="0"/>
                </a:moveTo>
                <a:lnTo>
                  <a:pt x="2785083" y="0"/>
                </a:lnTo>
                <a:lnTo>
                  <a:pt x="2785083" y="7762"/>
                </a:lnTo>
                <a:lnTo>
                  <a:pt x="0" y="7762"/>
                </a:lnTo>
                <a:close/>
              </a:path>
            </a:pathLst>
          </a:custGeom>
          <a:solidFill>
            <a:srgbClr val="0A0B1C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01">
  <p:cSld name="Section Header 01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text, electronics, circuit&#10;&#10;Description automatically generated" id="237" name="Google Shape;237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238" name="Google Shape;238;p31"/>
          <p:cNvPicPr preferRelativeResize="0"/>
          <p:nvPr/>
        </p:nvPicPr>
        <p:blipFill rotWithShape="1">
          <a:blip r:embed="rId3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1"/>
          <p:cNvSpPr txBox="1"/>
          <p:nvPr>
            <p:ph type="title"/>
          </p:nvPr>
        </p:nvSpPr>
        <p:spPr>
          <a:xfrm>
            <a:off x="416722" y="2495588"/>
            <a:ext cx="5124107" cy="900753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300"/>
              <a:buFont typeface="Verdana"/>
              <a:buNone/>
              <a:defRPr b="1" sz="3300">
                <a:solidFill>
                  <a:srgbClr val="3F3F3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240" name="Google Shape;240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31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242" name="Google Shape;242;p31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43" name="Google Shape;243;p31"/>
          <p:cNvSpPr txBox="1"/>
          <p:nvPr>
            <p:ph idx="2" type="subTitle"/>
          </p:nvPr>
        </p:nvSpPr>
        <p:spPr>
          <a:xfrm>
            <a:off x="416723" y="3402668"/>
            <a:ext cx="3996965" cy="325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400"/>
              <a:buNone/>
              <a:defRPr b="0" sz="1400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244" name="Google Shape;244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31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2">
  <p:cSld name="THANK YOU 02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aphical user interface, logo&#10;&#10;Description automatically generated" id="247" name="Google Shape;24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8" y="0"/>
            <a:ext cx="914222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logo&#10;&#10;Description automatically generated" id="248" name="Google Shape;248;p32"/>
          <p:cNvPicPr preferRelativeResize="0"/>
          <p:nvPr/>
        </p:nvPicPr>
        <p:blipFill rotWithShape="1">
          <a:blip r:embed="rId3">
            <a:alphaModFix/>
          </a:blip>
          <a:srcRect b="0" l="0" r="0" t="93074"/>
          <a:stretch/>
        </p:blipFill>
        <p:spPr>
          <a:xfrm>
            <a:off x="888" y="4787283"/>
            <a:ext cx="9142223" cy="356216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32"/>
          <p:cNvSpPr txBox="1"/>
          <p:nvPr>
            <p:ph type="title"/>
          </p:nvPr>
        </p:nvSpPr>
        <p:spPr>
          <a:xfrm>
            <a:off x="4875872" y="2258122"/>
            <a:ext cx="3872261" cy="5854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2149"/>
              </a:buClr>
              <a:buSzPts val="3000"/>
              <a:buFont typeface="Verdana"/>
              <a:buNone/>
              <a:defRPr b="1" sz="3000">
                <a:solidFill>
                  <a:srgbClr val="0D214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id="250" name="Google Shape;250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2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b="0" i="1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253" name="Google Shape;253;p32"/>
          <p:cNvSpPr txBox="1"/>
          <p:nvPr>
            <p:ph idx="2" type="subTitle"/>
          </p:nvPr>
        </p:nvSpPr>
        <p:spPr>
          <a:xfrm>
            <a:off x="4884235" y="3111189"/>
            <a:ext cx="3880625" cy="10872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3F3F3F"/>
              </a:buClr>
              <a:buSzPts val="1200"/>
              <a:buNone/>
              <a:defRPr b="0" sz="1200">
                <a:solidFill>
                  <a:srgbClr val="3F3F3F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id="254" name="Google Shape;254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15732" y="493915"/>
            <a:ext cx="1332401" cy="2625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96829" y="4881177"/>
            <a:ext cx="951944" cy="187610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32"/>
          <p:cNvSpPr txBox="1"/>
          <p:nvPr/>
        </p:nvSpPr>
        <p:spPr>
          <a:xfrm>
            <a:off x="56560" y="4872579"/>
            <a:ext cx="1714652" cy="20774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9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CONFIDENTIAL</a:t>
            </a:r>
            <a:endParaRPr sz="1100"/>
          </a:p>
        </p:txBody>
      </p:sp>
      <p:pic>
        <p:nvPicPr>
          <p:cNvPr id="257" name="Google Shape;25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15732" y="493915"/>
            <a:ext cx="1332401" cy="2625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0" Type="http://schemas.openxmlformats.org/officeDocument/2006/relationships/theme" Target="../theme/theme4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5.xml"/><Relationship Id="rId6" Type="http://schemas.openxmlformats.org/officeDocument/2006/relationships/slideLayout" Target="../slideLayouts/slideLayout26.xml"/><Relationship Id="rId7" Type="http://schemas.openxmlformats.org/officeDocument/2006/relationships/slideLayout" Target="../slideLayouts/slideLayout27.xml"/><Relationship Id="rId8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Verdana"/>
              <a:buNone/>
              <a:defRPr b="0" i="0" sz="33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3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Verdana"/>
              <a:buNone/>
              <a:defRPr b="0" i="0" sz="33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56" name="Google Shape;156;p23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57" name="Google Shape;157;p2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58" name="Google Shape;158;p2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59" name="Google Shape;159;p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github.com/TusKANNy/seismic" TargetMode="External"/><Relationship Id="rId4" Type="http://schemas.openxmlformats.org/officeDocument/2006/relationships/hyperlink" Target="https://ai-for-education.org/wp-content/uploads/2024/03/AI-for-Education-RAG.pdf" TargetMode="External"/><Relationship Id="rId5" Type="http://schemas.openxmlformats.org/officeDocument/2006/relationships/hyperlink" Target="https://blog.csdn.net/2301_78285120/article/details/144808260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3"/>
          <p:cNvSpPr txBox="1"/>
          <p:nvPr>
            <p:ph type="ctrTitle"/>
          </p:nvPr>
        </p:nvSpPr>
        <p:spPr>
          <a:xfrm>
            <a:off x="407700" y="911880"/>
            <a:ext cx="4863300" cy="3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2400"/>
              <a:buFont typeface="Verdana"/>
              <a:buNone/>
            </a:pPr>
            <a:r>
              <a:rPr lang="zh-TW" sz="1850">
                <a:solidFill>
                  <a:srgbClr val="303030"/>
                </a:solidFill>
                <a:highlight>
                  <a:srgbClr val="FFFFFF"/>
                </a:highlight>
                <a:latin typeface="Arial"/>
                <a:ea typeface="Arial"/>
                <a:cs typeface="Arial"/>
                <a:sym typeface="Arial"/>
              </a:rPr>
              <a:t>從零開始學 RAG</a:t>
            </a:r>
            <a:endParaRPr sz="3200"/>
          </a:p>
        </p:txBody>
      </p:sp>
      <p:sp>
        <p:nvSpPr>
          <p:cNvPr id="263" name="Google Shape;263;p33"/>
          <p:cNvSpPr txBox="1"/>
          <p:nvPr>
            <p:ph idx="1" type="subTitle"/>
          </p:nvPr>
        </p:nvSpPr>
        <p:spPr>
          <a:xfrm>
            <a:off x="407710" y="2183466"/>
            <a:ext cx="3996964" cy="32557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800"/>
              <a:buNone/>
            </a:pPr>
            <a:r>
              <a:rPr lang="zh-TW"/>
              <a:t> </a:t>
            </a:r>
            <a:endParaRPr/>
          </a:p>
        </p:txBody>
      </p:sp>
      <p:sp>
        <p:nvSpPr>
          <p:cNvPr id="264" name="Google Shape;264;p33"/>
          <p:cNvSpPr txBox="1"/>
          <p:nvPr>
            <p:ph idx="2" type="body"/>
          </p:nvPr>
        </p:nvSpPr>
        <p:spPr>
          <a:xfrm>
            <a:off x="407710" y="3599525"/>
            <a:ext cx="4442381" cy="37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100"/>
              <a:buNone/>
            </a:pPr>
            <a:r>
              <a:rPr lang="zh-TW"/>
              <a:t>3/26</a:t>
            </a:r>
            <a:endParaRPr/>
          </a:p>
        </p:txBody>
      </p:sp>
      <p:sp>
        <p:nvSpPr>
          <p:cNvPr id="265" name="Google Shape;265;p33"/>
          <p:cNvSpPr txBox="1"/>
          <p:nvPr>
            <p:ph idx="3" type="body"/>
          </p:nvPr>
        </p:nvSpPr>
        <p:spPr>
          <a:xfrm>
            <a:off x="2363339" y="4856536"/>
            <a:ext cx="4442381" cy="24016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4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大型語言模型 (LLM) 的三大痛點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72" name="Google Shape;272;p34"/>
          <p:cNvSpPr txBox="1"/>
          <p:nvPr/>
        </p:nvSpPr>
        <p:spPr>
          <a:xfrm>
            <a:off x="165625" y="1042375"/>
            <a:ext cx="83934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b="1" lang="zh-TW" sz="1800">
                <a:solidFill>
                  <a:srgbClr val="303030"/>
                </a:solidFill>
                <a:highlight>
                  <a:srgbClr val="FFFFFF"/>
                </a:highlight>
              </a:rPr>
              <a:t>知識截止 (Knowledge Cutoff)：</a:t>
            </a: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 模型訓練完成後，內部狀態就不再改變，不知道最新的新聞或數據。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b="1" lang="zh-TW" sz="1800">
                <a:solidFill>
                  <a:srgbClr val="303030"/>
                </a:solidFill>
                <a:highlight>
                  <a:srgbClr val="FFFFFF"/>
                </a:highlight>
              </a:rPr>
              <a:t>幻覺 (Hallucination)：</a:t>
            </a: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 當模型不知道答案時，它可能會一本正經地胡說八道。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b="1" lang="zh-TW" sz="1800">
                <a:solidFill>
                  <a:srgbClr val="303030"/>
                </a:solidFill>
                <a:highlight>
                  <a:srgbClr val="FFFFFF"/>
                </a:highlight>
              </a:rPr>
              <a:t>缺乏私有數據：</a:t>
            </a: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 ChatGPT 不知道你們公司的請假規定，也不知道你的個人筆記內容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5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什麼是 RAG？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79" name="Google Shape;279;p35"/>
          <p:cNvSpPr txBox="1"/>
          <p:nvPr/>
        </p:nvSpPr>
        <p:spPr>
          <a:xfrm>
            <a:off x="165625" y="1042375"/>
            <a:ext cx="83934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定</a:t>
            </a: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義</a:t>
            </a: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： Retrieval-Augmented Generation (檢索增強生成)。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白話文解釋：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這是一個「開卷考試」的過程。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LLM 本身是「大腦」 (負責理解與生成)。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RAG 系統是「圖書館」 (負責儲存知識)。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當你問問題時，AI 先去圖書館翻書 (Retrieval)，找到相關資料後，再回答你 (Generation)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RAG 的核心價值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86" name="Google Shape;286;p36"/>
          <p:cNvSpPr txBox="1"/>
          <p:nvPr/>
        </p:nvSpPr>
        <p:spPr>
          <a:xfrm>
            <a:off x="165625" y="1042375"/>
            <a:ext cx="83934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準確性提升： 強制 AI 根據檢索到的事實回答，減少幻覺。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資料即時性： 不需要重新訓練模型，只要更新資料庫，AI 就能知道剛發生的事。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權限與隱私： 可以在檢索階段控制誰能看到哪些資料 (ACLs)。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可解釋性： 你可以知道 AI 是參考了哪一份文件的哪一段話得出的結論。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7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RAG 與其他技術的比較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93" name="Google Shape;293;p37"/>
          <p:cNvSpPr txBox="1"/>
          <p:nvPr/>
        </p:nvSpPr>
        <p:spPr>
          <a:xfrm>
            <a:off x="165625" y="1042375"/>
            <a:ext cx="8393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  <p:graphicFrame>
        <p:nvGraphicFramePr>
          <p:cNvPr id="294" name="Google Shape;294;p37"/>
          <p:cNvGraphicFramePr/>
          <p:nvPr/>
        </p:nvGraphicFramePr>
        <p:xfrm>
          <a:off x="165625" y="693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{E8D46563-6F8C-42C6-BBA4-361D0601C12C}</a:tableStyleId>
              </a:tblPr>
              <a:tblGrid>
                <a:gridCol w="1462100"/>
                <a:gridCol w="1462100"/>
                <a:gridCol w="1462100"/>
                <a:gridCol w="1462100"/>
                <a:gridCol w="1462100"/>
                <a:gridCol w="1462100"/>
              </a:tblGrid>
              <a:tr h="2252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000">
                          <a:solidFill>
                            <a:srgbClr val="1F1F1F"/>
                          </a:solidFill>
                        </a:rPr>
                        <a:t>技術</a:t>
                      </a:r>
                      <a:endParaRPr b="1" sz="10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000">
                          <a:solidFill>
                            <a:srgbClr val="1F1F1F"/>
                          </a:solidFill>
                        </a:rPr>
                        <a:t>生動比喻</a:t>
                      </a:r>
                      <a:endParaRPr b="1" sz="10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000">
                          <a:solidFill>
                            <a:srgbClr val="1F1F1F"/>
                          </a:solidFill>
                        </a:rPr>
                        <a:t>核心原理</a:t>
                      </a:r>
                      <a:endParaRPr b="1" sz="10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000">
                          <a:solidFill>
                            <a:srgbClr val="1F1F1F"/>
                          </a:solidFill>
                        </a:rPr>
                        <a:t>適用情境</a:t>
                      </a:r>
                      <a:endParaRPr b="1" sz="10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000">
                          <a:solidFill>
                            <a:srgbClr val="1F1F1F"/>
                          </a:solidFill>
                        </a:rPr>
                        <a:t>資料時效性</a:t>
                      </a:r>
                      <a:endParaRPr b="1" sz="10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000">
                          <a:solidFill>
                            <a:srgbClr val="1F1F1F"/>
                          </a:solidFill>
                        </a:rPr>
                        <a:t>建置成本 &amp; 難度</a:t>
                      </a:r>
                      <a:endParaRPr b="1" sz="10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4843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Prompt Engineering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(提示工程)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考前提示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(老師給暗示)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透過自然語言引導模型輸出，不改變模型參數。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簡單任務、格式調整、角色扮演。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無 (依賴模型內建)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🟢 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極低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613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RAG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(檢索增強生成)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開卷考試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(翻書找答案)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先將資料向量化 (Vector)，檢索出相關片段後再餵給 AI 回答。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企業知識庫、客服問答、需要私有資料但邏輯簡單的查詢。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高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 (隨時更新資料庫)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🟡 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中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7434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GraphRAG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(圖譜增強檢索)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偵探辦案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(畫出關係圖)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結合「知識圖譜」與 RAG。不僅找關鍵字，還理解實體間的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關聯性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與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全域結構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需要回答「總結性」問題 (如：這份數據集的主要議題是什麼？)、複雜關係鏈推導。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高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🟠 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中高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 (需建立圖譜)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613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KAG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(知識增強生成)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專家審查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(邏輯校對)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強調知識的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邏輯推理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與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事實對齊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。透過搜索引擎或知識庫進行「推理-驗證」循環。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高精度需求、醫療法律諮詢、需要嚴格事實查核的場景。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高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🟠 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中高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613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Fine-tuning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(微調)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補習班特訓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(長期記憶)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調整模型部分參數，讓其學會特定的「說話風格」或「領域術語」。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模仿特定文風、醫療/法律專用術語修正、縮短 Prompt 長度。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低 (訓練完即固定)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🔴 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高</a:t>
                      </a:r>
                      <a:r>
                        <a:rPr lang="zh-TW" sz="900">
                          <a:solidFill>
                            <a:srgbClr val="1F1F1F"/>
                          </a:solidFill>
                        </a:rPr>
                        <a:t> (算力與資料清洗)</a:t>
                      </a:r>
                      <a:endParaRPr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RAG 在真實世界的應用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01" name="Google Shape;301;p38"/>
          <p:cNvSpPr txBox="1"/>
          <p:nvPr/>
        </p:nvSpPr>
        <p:spPr>
          <a:xfrm>
            <a:off x="165625" y="1042375"/>
            <a:ext cx="8393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企業客服機器人： 根據最新的產品手冊回答客戶問題。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教育助教： 根據特定的課綱與教材生成教案，而非使用網路上通用的資料。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金融分析： 讀取最新的財報與市場新聞，生成投資建議。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法律助手： 從大量的判決書中找出相似案例。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9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RAG 的標準運作圖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08" name="Google Shape;308;p39"/>
          <p:cNvSpPr txBox="1"/>
          <p:nvPr/>
        </p:nvSpPr>
        <p:spPr>
          <a:xfrm>
            <a:off x="165625" y="1042375"/>
            <a:ext cx="83934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User Query: 使用者提問。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Retrieve: 系統將問題轉為向量，去資料庫找最相似的片段。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Augment: 將找到的片段 (Context) 與原始問題組合成新的 Prompt。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Generate: LLM 根據新 Prompt 生成回答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  <p:pic>
        <p:nvPicPr>
          <p:cNvPr id="309" name="Google Shape;30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575" y="2393225"/>
            <a:ext cx="8839204" cy="21191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0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核心技術一：Embeddings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16" name="Google Shape;316;p40"/>
          <p:cNvSpPr txBox="1"/>
          <p:nvPr/>
        </p:nvSpPr>
        <p:spPr>
          <a:xfrm>
            <a:off x="165625" y="693875"/>
            <a:ext cx="89115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什麼是 Embedding？ 將文字轉變成一串數字 (向量, Vector)。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「狗」可能變成 [0.1, 0.5]，「貓」變成 [0.1, 0.6]，「車子」變成 [0.9, 0.1]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原理： 意義相近的詞，在數學空間中的距離會比較近。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用途： 讓電腦計算「這句話」跟「那篇文章」有多像。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  <p:pic>
        <p:nvPicPr>
          <p:cNvPr id="317" name="Google Shape;31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5163" y="1949050"/>
            <a:ext cx="3813676" cy="315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1"/>
          <p:cNvSpPr txBox="1"/>
          <p:nvPr/>
        </p:nvSpPr>
        <p:spPr>
          <a:xfrm>
            <a:off x="165625" y="124475"/>
            <a:ext cx="476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核心技術二：Vector Database	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24" name="Google Shape;324;p41"/>
          <p:cNvSpPr txBox="1"/>
          <p:nvPr/>
        </p:nvSpPr>
        <p:spPr>
          <a:xfrm>
            <a:off x="165625" y="1042375"/>
            <a:ext cx="8854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定義： 專門用來儲存 Embeddings 的資料庫。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 為什麼不用傳統 SQL？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SQL 擅長精確比對 (例如 WHERE age = 20)。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Vector DB 擅長「模糊搜尋」或「語意搜尋」 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roman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(例如找跟「蘋果」概念很像的東西，可能是「iPhone」或「水果」)。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2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核心技術三：Chunking Strategy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31" name="Google Shape;331;p42"/>
          <p:cNvSpPr txBox="1"/>
          <p:nvPr/>
        </p:nvSpPr>
        <p:spPr>
          <a:xfrm>
            <a:off x="165625" y="1042375"/>
            <a:ext cx="88548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Chunking 不僅為了字數限制，更是平衡「檢索精準度 」與「上下文完整性 」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Strategies: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Recursive with Overlap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Structure-Aware (結構感知)： 針對格式化文件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roman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依據 Markdown Header (#) 或程式碼 Function 邊界切割，保持邏輯完整性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Small-to-Big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Semantic Chunking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roman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利用 Embedding 計算前後句相似度，在「話題轉換點」進行切割。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3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核心技術四：Similarity Search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38" name="Google Shape;338;p43"/>
          <p:cNvSpPr txBox="1"/>
          <p:nvPr/>
        </p:nvSpPr>
        <p:spPr>
          <a:xfrm>
            <a:off x="165625" y="1042375"/>
            <a:ext cx="8854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Cosine Similarity (餘弦相似度)： 計算兩個向量夾角的角度，越小代表越相似。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Euclidean Distance (歐式距離)： 計算兩點直線距離。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Top-K 檢索： 系統通常會設定一個 k 值 (例如 3 或 5)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4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核心技術五：Prompt Template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45" name="Google Shape;345;p44"/>
          <p:cNvSpPr txBox="1"/>
          <p:nvPr/>
        </p:nvSpPr>
        <p:spPr>
          <a:xfrm>
            <a:off x="165625" y="1042375"/>
            <a:ext cx="8854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標準範例：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在法律 or 醫療領域，不能亂講話，這能有效限制 LLM 只依賴我們提供的資料回答。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避免被prompt injection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5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RAG 的限制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52" name="Google Shape;352;p45"/>
          <p:cNvSpPr txBox="1"/>
          <p:nvPr/>
        </p:nvSpPr>
        <p:spPr>
          <a:xfrm>
            <a:off x="165625" y="1042375"/>
            <a:ext cx="8854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關鍵字匹配失敗： 使用者問「蘋果」，資料庫存的是「iPhone」，如果 Embedding 模型不夠好，可能找不到。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檢索不精準： Retrieve 到的資料如果不相關，LLM 就會回答錯誤 (Garbage In, Garbage Out)。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忽視結構： 簡單的切塊可能會破壞表格或跨段落的邏輯。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6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小結論	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59" name="Google Shape;359;p46"/>
          <p:cNvSpPr txBox="1"/>
          <p:nvPr/>
        </p:nvSpPr>
        <p:spPr>
          <a:xfrm>
            <a:off x="165625" y="1042375"/>
            <a:ext cx="8854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RAG = 檢索 + 生成。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關鍵流程：切塊 -&gt; 轉向量 -&gt; 存入資料庫 -&gt; 搜尋 -&gt; 生成。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接下來我們進入「實作篇」，教你如何選擇工具。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7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實作五步曲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66" name="Google Shape;366;p47"/>
          <p:cNvSpPr txBox="1"/>
          <p:nvPr/>
        </p:nvSpPr>
        <p:spPr>
          <a:xfrm>
            <a:off x="165625" y="1042375"/>
            <a:ext cx="8854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Document Loading: 讀取你的 PDF/Word/網頁。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Splitting: 將文字切成小塊。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Embedding: 將文字轉成向量。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Storing: 存入向量資料庫。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Retrieval &amp; Generation: 搜尋並回答。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8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Step 1 &amp; 2 - 讀取與切割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73" name="Google Shape;373;p48"/>
          <p:cNvSpPr txBox="1"/>
          <p:nvPr/>
        </p:nvSpPr>
        <p:spPr>
          <a:xfrm>
            <a:off x="165625" y="1042375"/>
            <a:ext cx="88548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工具推薦： LangChain 或 LlamaIndex。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text splitter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if no ocr model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PDF: pypdf + camelot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docx: read base xml might better than pydocx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pptx: </a:t>
            </a:r>
            <a:r>
              <a:rPr lang="zh-TW" sz="1800">
                <a:solidFill>
                  <a:srgbClr val="303030"/>
                </a:solidFill>
                <a:highlight>
                  <a:schemeClr val="lt1"/>
                </a:highlight>
              </a:rPr>
              <a:t>read base xml might better than pypptx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html: trafilatura better than bs4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ocr model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sota: paddleocr &gt; deepseekocr &gt; nanonetocr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non-china model: nanonetocr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9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Step 3 - 選擇 Embedding Model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80" name="Google Shape;380;p49"/>
          <p:cNvSpPr txBox="1"/>
          <p:nvPr/>
        </p:nvSpPr>
        <p:spPr>
          <a:xfrm>
            <a:off x="165625" y="1042375"/>
            <a:ext cx="88548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閉源模型 (付費、簡單)：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OpenAI text-embedding-3-small： 1536 維，性能強，價格便宜。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開源模型 (免費、可本地跑)：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HuggingFace (sentence-transformers / vllm)：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roman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 EmbeddingGemma, Qwen-3-embedding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roman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reranker: Qwen-3-reranker, bge-reranker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適合資料隱私要求極高的場景。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0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Step 4 - 選擇 Vector DB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aphicFrame>
        <p:nvGraphicFramePr>
          <p:cNvPr id="387" name="Google Shape;387;p50"/>
          <p:cNvGraphicFramePr/>
          <p:nvPr/>
        </p:nvGraphicFramePr>
        <p:xfrm>
          <a:off x="165625" y="887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{E8D46563-6F8C-42C6-BBA4-361D0601C12C}</a:tableStyleId>
              </a:tblPr>
              <a:tblGrid>
                <a:gridCol w="2992800"/>
                <a:gridCol w="2992800"/>
                <a:gridCol w="2992800"/>
              </a:tblGrid>
              <a:tr h="200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資料庫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Retrieve Latency (查詢延遲)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Insert Time (寫入吞吐量)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3669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Qdrant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極快 (&lt; 5-10ms)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極快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31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Milvus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快 (&lt; 10-20ms)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極快 (異步)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3669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Weaviate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快 (&lt; 10-20ms)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快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3669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Pinecone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穩定 (~20-50ms)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中等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431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pgvector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中等 (10-100ms)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中等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3021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ChromaDB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慢 (~50ms - 200ms+)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慢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1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Step 4 - 選擇 Vector DB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aphicFrame>
        <p:nvGraphicFramePr>
          <p:cNvPr id="394" name="Google Shape;394;p51"/>
          <p:cNvGraphicFramePr/>
          <p:nvPr/>
        </p:nvGraphicFramePr>
        <p:xfrm>
          <a:off x="165625" y="693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{E8D46563-6F8C-42C6-BBA4-361D0601C12C}</a:tableStyleId>
              </a:tblPr>
              <a:tblGrid>
                <a:gridCol w="1269175"/>
                <a:gridCol w="1269175"/>
                <a:gridCol w="1269175"/>
                <a:gridCol w="1269175"/>
                <a:gridCol w="1269175"/>
                <a:gridCol w="1269175"/>
                <a:gridCol w="1269175"/>
              </a:tblGrid>
              <a:tr h="3685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比較項目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ChromaDB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Weaviate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Qdrant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Milvus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pgvector (Postgres)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Pinecone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FEF"/>
                    </a:solidFill>
                  </a:tcPr>
                </a:tc>
              </a:tr>
              <a:tr h="507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混合搜索實作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應用層整合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內建 (BM25F)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內建 (Sparse Vectors)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內建 (Sparse Vectors)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SQL Join (tsvector)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透過 Sparse-Dense API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507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Disk Support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主要依賴內存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支援 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強 </a:t>
                      </a:r>
                      <a:r>
                        <a:rPr b="1" lang="zh-TW" sz="700">
                          <a:solidFill>
                            <a:srgbClr val="1F1F1F"/>
                          </a:solidFill>
                        </a:rPr>
                        <a:t>(Binary Quantization + Mmap)</a:t>
                      </a:r>
                      <a:endParaRPr b="1" sz="7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強</a:t>
                      </a:r>
                      <a:r>
                        <a:rPr b="1" lang="zh-TW" sz="900">
                          <a:solidFill>
                            <a:srgbClr val="1F1F1F"/>
                          </a:solidFill>
                        </a:rPr>
                        <a:t> (DiskANN)</a:t>
                      </a:r>
                      <a:endParaRPr b="1" sz="9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依賴 Postgres Buffer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支援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507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Metadata Filtering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支援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支援 (Inverted Index)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極強 (專用 Payload Index)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強 (Partition/Scalar Index)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極強 (B-Tree/GIN Index)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支援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3685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分散式架構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發展中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Sharding / Replication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Sharding / Replication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Cloud-native (Microservices)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Master-Slave / Citus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100">
                          <a:solidFill>
                            <a:srgbClr val="1F1F1F"/>
                          </a:solidFill>
                        </a:rPr>
                        <a:t>Managed</a:t>
                      </a:r>
                      <a:endParaRPr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3685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適合場景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Prototype / 本地 LLM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通用型 / 需要靈活模組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高效能 / 推薦系統 / RAG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海量數據 / 企業級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中小規模 / 簡化架構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zh-TW" sz="1100">
                          <a:solidFill>
                            <a:srgbClr val="1F1F1F"/>
                          </a:solidFill>
                        </a:rPr>
                        <a:t>快速上市 / 無維運</a:t>
                      </a:r>
                      <a:endParaRPr b="1" sz="1100">
                        <a:solidFill>
                          <a:srgbClr val="1F1F1F"/>
                        </a:solidFill>
                      </a:endParaRPr>
                    </a:p>
                  </a:txBody>
                  <a:tcPr marT="76200" marB="76200" marR="114300" marL="114300">
                    <a:lnL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400">
                      <a:solidFill>
                        <a:srgbClr val="1F1F1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2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Step 4 - 選擇 Vector DB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01" name="Google Shape;401;p52"/>
          <p:cNvSpPr txBox="1"/>
          <p:nvPr/>
        </p:nvSpPr>
        <p:spPr>
          <a:xfrm>
            <a:off x="165625" y="1042375"/>
            <a:ext cx="88548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初學者/測試首選：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ChromaDB： 輕量級，Python 原生，幾行程式碼就能跑，不需架設複雜伺服器。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Facebook FAISS： 基礎的向量搜尋庫，適合純研究。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PostgreSQL 使用者首選：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pgvector： 如果你已經用 Postgres，直接裝外掛就能用，不用多維護一個資料庫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雲端託管 (最省事)：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Pinecone： Serverless 架構，不用管機器，但資料量大時較貴。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效能與擴展性 (最強)：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Qdrant： Rust 寫成，效能極高，過濾功能強大。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Milvus： 專為十億級數據設計，適合大規模企業應用。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53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Step 5 &amp; 6 - 檢索與生成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08" name="Google Shape;408;p53"/>
          <p:cNvSpPr txBox="1"/>
          <p:nvPr/>
        </p:nvSpPr>
        <p:spPr>
          <a:xfrm>
            <a:off x="165625" y="1042375"/>
            <a:ext cx="88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  <p:sp>
        <p:nvSpPr>
          <p:cNvPr id="409" name="Google Shape;409;p53"/>
          <p:cNvSpPr txBox="1"/>
          <p:nvPr/>
        </p:nvSpPr>
        <p:spPr>
          <a:xfrm>
            <a:off x="165625" y="1042375"/>
            <a:ext cx="8854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來自步驟 5 的檢索結果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Query (問題)：使用者的原始輸入。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LLM：負責將兩者合成為流暢、正確的語言。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實作可能更有感覺!!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  <p:pic>
        <p:nvPicPr>
          <p:cNvPr id="410" name="Google Shape;41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210575"/>
            <a:ext cx="8839200" cy="8948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54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實作常見雷區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17" name="Google Shape;417;p54"/>
          <p:cNvSpPr txBox="1"/>
          <p:nvPr/>
        </p:nvSpPr>
        <p:spPr>
          <a:xfrm>
            <a:off x="165625" y="1042375"/>
            <a:ext cx="8854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垃圾進，垃圾出： PDF 解析錯誤，導致文字變成亂碼。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切塊太小： 每一塊只有一句話，AI 看了不懂上下文。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切塊太大： 包含太多無關資訊，干擾 AI 判斷。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語言不匹配： 用英文的 Embedding 模型搜中文內容，效果會很差。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5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為什麼單純的向量搜尋不夠？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24" name="Google Shape;424;p55"/>
          <p:cNvSpPr txBox="1"/>
          <p:nvPr/>
        </p:nvSpPr>
        <p:spPr>
          <a:xfrm>
            <a:off x="165625" y="1042375"/>
            <a:ext cx="8854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語意搜尋的缺點： 當使用者搜尋「專有名詞」或「產品型號 (如 SK-II, iPhone 15)」時，向量搜尋有時會失敗，因為它在找「概念相似」而非「精確匹配」。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解法： 混合搜尋 (Hybrid Search)。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公式： Hybrid Score = (1 - alpha) * Sparse Score + alpha * Dense Score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Sparse Vector (稀疏向量)： 傳統關鍵字搜尋 (BM25)，擅長精確匹配關鍵字。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Dense Vector (稠密向量)： AI 語意搜尋，擅長理解意圖。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最佳實踐： 同時使用兩者，確保既能懂語意，又能精確找到關鍵字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56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為什麼單純的向量搜尋不夠？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31" name="Google Shape;431;p56"/>
          <p:cNvSpPr txBox="1"/>
          <p:nvPr/>
        </p:nvSpPr>
        <p:spPr>
          <a:xfrm>
            <a:off x="165625" y="1042375"/>
            <a:ext cx="88548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語意搜尋的缺點： 當使用者搜尋「專有名詞」或「產品型號 (如 SK-II, iPhone 15)」時，向量搜尋有時會失敗，因為它在找「概念相似」而非「精確匹配」。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rabi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解法： 混合搜尋 (Hybrid Search)。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公式： Hybrid Score = (1 - alpha) * Sparse Score + alpha * Dense Score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Sparse Vector (稀疏向量)： 傳統關鍵字搜尋 (BM25)，擅長精確匹配關鍵字。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Dense Vector (稠密向量)： AI 語意搜尋，擅長理解意圖。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800"/>
              <a:buAutoNum type="alphaLcPeriod"/>
            </a:pPr>
            <a:r>
              <a:rPr lang="zh-TW" sz="1800">
                <a:solidFill>
                  <a:srgbClr val="303030"/>
                </a:solidFill>
                <a:highlight>
                  <a:srgbClr val="FFFFFF"/>
                </a:highlight>
              </a:rPr>
              <a:t>最佳實踐： 同時使用兩者，確保既能懂語意，又能精確找到關鍵字</a:t>
            </a:r>
            <a:endParaRPr sz="18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57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索引技術深度解析 (Indexing)	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38" name="Google Shape;438;p57"/>
          <p:cNvSpPr txBox="1"/>
          <p:nvPr/>
        </p:nvSpPr>
        <p:spPr>
          <a:xfrm>
            <a:off x="165625" y="678450"/>
            <a:ext cx="88548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HNSW (Hierarchical Navigable Small World)：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目前最主流、最快的記憶體內索引。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缺點：非常吃記憶體。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DiskANN (On-disk Indexing)：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將索引存在 SSD 硬碟上，大幅節省記憶體。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Milvus 和 Qdrant 對此支援較好，適合海量數據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FLAT (Brute-force / Exact Search):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不進行任何壓縮或分群，直接對資料庫中「所有」向量進行逐一比對（暴力搜索）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優點：提供 100% 的召回率 (Recall)，保證搜尋結果絕對精確，是所有索引的精確度基準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缺點：搜尋速度極慢。隨著數據量增加，耗時呈線性增長，僅適合小規模數據（建議 &lt; 100 萬筆）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IVF_FLAT (Inverted File with Flat Compression):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利用 nverted File先將向量空間切分成多個「Clusters」，搜尋時只在最相關的幾個群聚內找答案，縮小搜尋範圍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優點：速度比 FLAT 快非常多，且因為保留了原始向量數據 (Flat)，在「速度」與「精確度」之間取得了平衡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缺點： 1. 索引建立前需要一個 「訓練 (Train)」 階段來找出群聚中心。 2. 屬於近似搜尋 (ANN)，精確度會略低於 FLAT（可透過調整搜尋參數 nprobe 來改善，但會犧牲速度）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58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Metadata Filtering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45" name="Google Shape;445;p58"/>
          <p:cNvSpPr txBox="1"/>
          <p:nvPr/>
        </p:nvSpPr>
        <p:spPr>
          <a:xfrm>
            <a:off x="165625" y="678450"/>
            <a:ext cx="88548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情境： 「幫我找 2023 年的財務報告」。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如果只用向量搜，可能會搜到 2022 年的 (因為內容很像)。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roman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解法： 使用 Metadata Filter。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WHERE year = 2023 AND embedding_similarity &gt; 0.8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roman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Qdrant 擁有強大的 Payload Filter 機制，速度極快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59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Query Rewriting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52" name="Google Shape;452;p59"/>
          <p:cNvSpPr txBox="1"/>
          <p:nvPr/>
        </p:nvSpPr>
        <p:spPr>
          <a:xfrm>
            <a:off x="165625" y="678450"/>
            <a:ext cx="88548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問題： 使用者的提問通常很模糊，例如「它去年的營收多少？」(AI 不知道「它」是誰)。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解法： 在檢索前，先用 LLM 改寫問題。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roman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原問：「它去年的營收多少？」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2" marL="13716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roman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改寫後：「NVIDIA 公司 2024 年的財政營收報告」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這樣檢索的準確率會大幅提升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query rewrite formula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LLAMAINDEX:</a:t>
            </a:r>
            <a:b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</a:b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You are a helpful assistant that generates multiple search queries based on a single input query. Generate {num_queries} search queries, one on each line, related to the following input query: Query: {query} Queries: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Hyde:</a:t>
            </a:r>
            <a:b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</a:br>
            <a:r>
              <a:rPr lang="zh-TW" sz="1500">
                <a:solidFill>
                  <a:srgbClr val="303030"/>
                </a:solidFill>
                <a:highlight>
                  <a:schemeClr val="lt1"/>
                </a:highlight>
              </a:rPr>
              <a:t>Please write a passage to answer the question. Question: {query} Passage: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逐步重寫:</a:t>
            </a:r>
            <a:b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</a:b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The original query is as follows: {query_str} We have an opportunity to refine the query (only if needed) with some more context below. ------------ {context_msg} ------------ Given the new context, refine the original query to better answer the query. If the context isn't useful, return the original query. New Query: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60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Multi-Vector Indexing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59" name="Google Shape;459;p60"/>
          <p:cNvSpPr txBox="1"/>
          <p:nvPr/>
        </p:nvSpPr>
        <p:spPr>
          <a:xfrm>
            <a:off x="165625" y="678450"/>
            <a:ext cx="8854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不要只對「整段文字」做 Embedding。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策略：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針對一份文件，同時儲存「標題向量」、「摘要向量」、「全文向量」。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這能從不同角度捕捉文件的意義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1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Agentic RAG 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66" name="Google Shape;466;p61"/>
          <p:cNvSpPr txBox="1"/>
          <p:nvPr/>
        </p:nvSpPr>
        <p:spPr>
          <a:xfrm>
            <a:off x="165625" y="678450"/>
            <a:ext cx="8854800" cy="13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讓 AI 擁有「自主權」。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AI 決定：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現在需不需要去搜尋？ (還是直接回答就好)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 要去哪個資料庫搜尋？ (Google 搜尋還是公司內網)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搜尋結果不夠好，要不要換個關鍵字再搜一次？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62"/>
          <p:cNvSpPr txBox="1"/>
          <p:nvPr/>
        </p:nvSpPr>
        <p:spPr>
          <a:xfrm>
            <a:off x="165625" y="124475"/>
            <a:ext cx="7947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新興技術 - Sparse Retrievers (Seismic)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3" name="Google Shape;473;p62"/>
          <p:cNvSpPr txBox="1"/>
          <p:nvPr/>
        </p:nvSpPr>
        <p:spPr>
          <a:xfrm>
            <a:off x="165625" y="678450"/>
            <a:ext cx="88548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現狀： 大多數 RAG 使用 Dense Vector (稠密向量)。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挑戰： Dense Vector 是一個黑盒子，很難解釋為什麼搜到這些，且與傳統關鍵字比對的統計特性不同。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新解法 (Seismic)： 使用「學習稀疏表示 (Learned Sparse Representations)」如 SPLADE 模型。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結合了倒排索引 (Inverted Index) 的速度與神經網路的理解力。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優勢： 速度比傳統向量搜尋快 1-2 個數量級，且可解釋性更高。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這代表了未來 RAG 在極致效能上的發展方向。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這暗示了embedding finetune還是有新的思路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  <p:pic>
        <p:nvPicPr>
          <p:cNvPr id="474" name="Google Shape;474;p62"/>
          <p:cNvPicPr preferRelativeResize="0"/>
          <p:nvPr/>
        </p:nvPicPr>
        <p:blipFill rotWithShape="1">
          <a:blip r:embed="rId3">
            <a:alphaModFix/>
          </a:blip>
          <a:srcRect b="0" l="17729" r="0" t="14661"/>
          <a:stretch/>
        </p:blipFill>
        <p:spPr>
          <a:xfrm>
            <a:off x="4614275" y="2426700"/>
            <a:ext cx="1751000" cy="181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63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如何評估 RAG 的好壞？	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81" name="Google Shape;481;p63"/>
          <p:cNvSpPr txBox="1"/>
          <p:nvPr/>
        </p:nvSpPr>
        <p:spPr>
          <a:xfrm>
            <a:off x="165625" y="678450"/>
            <a:ext cx="88548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不能只憑感覺。需要量化指標。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RAGAS 框架 (常用指標)：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Context Recall (召回率)： 正確答案所需的資訊有被搜出來嗎？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Context Precision (精確率)： 搜出來的資訊中，有多少是雜訊？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Faithfulness (忠實度)： LLM 的回答是否真的基於檢索到的內容 (有無幻覺)？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lphaL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Answer Relevance (相關性)： 回答是否切題？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4"/>
          <p:cNvSpPr txBox="1"/>
          <p:nvPr/>
        </p:nvSpPr>
        <p:spPr>
          <a:xfrm>
            <a:off x="165625" y="124475"/>
            <a:ext cx="5677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2500">
                <a:solidFill>
                  <a:srgbClr val="303030"/>
                </a:solidFill>
                <a:highlight>
                  <a:srgbClr val="FFFFFF"/>
                </a:highlight>
              </a:rPr>
              <a:t>部署考量</a:t>
            </a:r>
            <a:endParaRPr b="1" sz="25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88" name="Google Shape;488;p64"/>
          <p:cNvSpPr txBox="1"/>
          <p:nvPr/>
        </p:nvSpPr>
        <p:spPr>
          <a:xfrm>
            <a:off x="165625" y="678450"/>
            <a:ext cx="8854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Latency (延遲)： 使用者能接受等多久？(通常 &lt; 3秒)。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Streaming (串流)： 讓文字一個字一個字跑出來，降低等待的焦慮感。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Caching (快取)： 常見的問題直接存起來，不用每次都跑整個 RAG 流程。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303030"/>
              </a:buClr>
              <a:buSzPts val="1500"/>
              <a:buAutoNum type="arabicPeriod"/>
            </a:pPr>
            <a:r>
              <a:rPr lang="zh-TW" sz="1500">
                <a:solidFill>
                  <a:srgbClr val="303030"/>
                </a:solidFill>
                <a:highlight>
                  <a:srgbClr val="FFFFFF"/>
                </a:highlight>
              </a:rPr>
              <a:t>Security (安全)： 確保 AI 不會洩漏不該說的機密文件。</a:t>
            </a:r>
            <a:endParaRPr sz="1500">
              <a:solidFill>
                <a:srgbClr val="30303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5"/>
          <p:cNvSpPr txBox="1"/>
          <p:nvPr>
            <p:ph type="title"/>
          </p:nvPr>
        </p:nvSpPr>
        <p:spPr>
          <a:xfrm>
            <a:off x="401267" y="273844"/>
            <a:ext cx="8205000" cy="6015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Reference</a:t>
            </a:r>
            <a:endParaRPr/>
          </a:p>
        </p:txBody>
      </p:sp>
      <p:sp>
        <p:nvSpPr>
          <p:cNvPr id="494" name="Google Shape;494;p65"/>
          <p:cNvSpPr txBox="1"/>
          <p:nvPr>
            <p:ph idx="1" type="body"/>
          </p:nvPr>
        </p:nvSpPr>
        <p:spPr>
          <a:xfrm>
            <a:off x="2363338" y="4856536"/>
            <a:ext cx="4442400" cy="240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65"/>
          <p:cNvSpPr txBox="1"/>
          <p:nvPr/>
        </p:nvSpPr>
        <p:spPr>
          <a:xfrm>
            <a:off x="633750" y="1050000"/>
            <a:ext cx="5446200" cy="13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zh-TW" sz="1200" u="sng">
                <a:solidFill>
                  <a:schemeClr val="dk1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seismic</a:t>
            </a:r>
            <a:endParaRPr sz="1200" u="sng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zh-TW" sz="1200" u="sng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AI-for-Education-RAG</a:t>
            </a:r>
            <a:endParaRPr sz="1200" u="sng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zh-TW" sz="1200" u="sng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our experience</a:t>
            </a:r>
            <a:endParaRPr sz="1200" u="sng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AutoNum type="arabicPeriod"/>
            </a:pPr>
            <a:r>
              <a:rPr lang="zh-TW" sz="1200" u="sng">
                <a:solidFill>
                  <a:schemeClr val="dk1"/>
                </a:solidFill>
                <a:latin typeface="Microsoft Yahei"/>
                <a:ea typeface="Microsoft Yahei"/>
                <a:cs typeface="Microsoft Yahei"/>
                <a:sym typeface="Microsoft Yahe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Milvus, Chroma, Qdrant性能比較</a:t>
            </a:r>
            <a:endParaRPr sz="1200" u="sng">
              <a:solidFill>
                <a:schemeClr val="dk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zh-TW" sz="1200" u="sng">
                <a:solidFill>
                  <a:schemeClr val="dk1"/>
                </a:solidFill>
                <a:highlight>
                  <a:schemeClr val="dk1"/>
                </a:highlight>
                <a:latin typeface="Verdana"/>
                <a:ea typeface="Verdana"/>
                <a:cs typeface="Verdana"/>
                <a:sym typeface="Verdana"/>
              </a:rPr>
            </a:br>
            <a:endParaRPr sz="1200" u="sng">
              <a:solidFill>
                <a:schemeClr val="dk1"/>
              </a:solidFill>
              <a:highlight>
                <a:schemeClr val="dk1"/>
              </a:highlight>
              <a:latin typeface="Verdana"/>
              <a:ea typeface="Verdana"/>
              <a:cs typeface="Verdana"/>
              <a:sym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hison">
  <a:themeElements>
    <a:clrScheme name="PHISON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F7941D"/>
      </a:accent1>
      <a:accent2>
        <a:srgbClr val="132951"/>
      </a:accent2>
      <a:accent3>
        <a:srgbClr val="7C7C7B"/>
      </a:accent3>
      <a:accent4>
        <a:srgbClr val="2370B0"/>
      </a:accent4>
      <a:accent5>
        <a:srgbClr val="461B47"/>
      </a:accent5>
      <a:accent6>
        <a:srgbClr val="FFCC40"/>
      </a:accent6>
      <a:hlink>
        <a:srgbClr val="F79331"/>
      </a:hlink>
      <a:folHlink>
        <a:srgbClr val="10145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Phison">
  <a:themeElements>
    <a:clrScheme name="PHISON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F7941D"/>
      </a:accent1>
      <a:accent2>
        <a:srgbClr val="132951"/>
      </a:accent2>
      <a:accent3>
        <a:srgbClr val="7C7C7B"/>
      </a:accent3>
      <a:accent4>
        <a:srgbClr val="2370B0"/>
      </a:accent4>
      <a:accent5>
        <a:srgbClr val="461B47"/>
      </a:accent5>
      <a:accent6>
        <a:srgbClr val="FFCC40"/>
      </a:accent6>
      <a:hlink>
        <a:srgbClr val="F79331"/>
      </a:hlink>
      <a:folHlink>
        <a:srgbClr val="10145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